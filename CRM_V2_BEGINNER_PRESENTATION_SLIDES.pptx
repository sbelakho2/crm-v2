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59.png" ContentType="image/png"/>
  <Override PartName="/ppt/media/image21.png" ContentType="image/png"/>
  <Override PartName="/ppt/media/image58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1.png" ContentType="image/png"/>
  <Override PartName="/ppt/media/image33.png" ContentType="image/png"/>
  <Override PartName="/ppt/media/image10.png" ContentType="image/png"/>
  <Override PartName="/ppt/media/image47.png" ContentType="image/png"/>
  <Override PartName="/ppt/media/image16.png" ContentType="image/png"/>
  <Override PartName="/ppt/media/image7.png" ContentType="image/png"/>
  <Override PartName="/ppt/media/image39.png" ContentType="image/png"/>
  <Override PartName="/ppt/media/image2.png" ContentType="image/png"/>
  <Override PartName="/ppt/media/image34.png" ContentType="image/png"/>
  <Override PartName="/ppt/media/image11.png" ContentType="image/png"/>
  <Override PartName="/ppt/media/image48.png" ContentType="image/png"/>
  <Override PartName="/ppt/media/image17.png" ContentType="image/png"/>
  <Override PartName="/ppt/media/image45.png" ContentType="image/png"/>
  <Override PartName="/ppt/media/image46.png" ContentType="image/png"/>
  <Override PartName="/ppt/media/image50.png" ContentType="image/png"/>
  <Override PartName="/ppt/media/image13.png" ContentType="image/png"/>
  <Override PartName="/ppt/media/image51.png" ContentType="image/png"/>
  <Override PartName="/ppt/media/image52.png" ContentType="image/png"/>
  <Override PartName="/ppt/media/image41.png" ContentType="image/png"/>
  <Override PartName="/ppt/media/image53.png" ContentType="image/png"/>
  <Override PartName="/ppt/media/image42.png" ContentType="image/png"/>
  <Override PartName="/ppt/media/image54.png" ContentType="image/png"/>
  <Override PartName="/ppt/media/image8.png" ContentType="image/png"/>
  <Override PartName="/ppt/media/image43.png" ContentType="image/png"/>
  <Override PartName="/ppt/media/image55.png" ContentType="image/png"/>
  <Override PartName="/ppt/media/image9.png" ContentType="image/png"/>
  <Override PartName="/ppt/media/image18.png" ContentType="image/png"/>
  <Override PartName="/ppt/media/image44.png" ContentType="image/png"/>
  <Override PartName="/ppt/media/image56.png" ContentType="image/png"/>
  <Override PartName="/ppt/media/image40.png" ContentType="image/png"/>
  <Override PartName="/ppt/media/image32.png" ContentType="image/png"/>
  <Override PartName="/ppt/media/image31.png" ContentType="image/png"/>
  <Override PartName="/ppt/media/image30.png" ContentType="image/png"/>
  <Override PartName="/ppt/media/image4.png" ContentType="image/png"/>
  <Override PartName="/ppt/media/image36.png" ContentType="image/png"/>
  <Override PartName="/ppt/media/image20.png" ContentType="image/png"/>
  <Override PartName="/ppt/media/image57.png" ContentType="image/png"/>
  <Override PartName="/ppt/media/image49.png" ContentType="image/png"/>
  <Override PartName="/ppt/media/image12.png" ContentType="image/png"/>
  <Override PartName="/ppt/media/image3.png" ContentType="image/png"/>
  <Override PartName="/ppt/media/image35.png" ContentType="image/png"/>
  <Override PartName="/ppt/slides/_rels/slide54.xml.rels" ContentType="application/vnd.openxmlformats-package.relationships+xml"/>
  <Override PartName="/ppt/slides/_rels/slide53.xml.rels" ContentType="application/vnd.openxmlformats-package.relationships+xml"/>
  <Override PartName="/ppt/slides/_rels/slide16.xml.rels" ContentType="application/vnd.openxmlformats-package.relationships+xml"/>
  <Override PartName="/ppt/slides/_rels/slide55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2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4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8.xml.rels" ContentType="application/vnd.openxmlformats-package.relationships+xml"/>
  <Override PartName="/ppt/slides/_rels/slide57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60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7.xml.rels" ContentType="application/vnd.openxmlformats-package.relationships+xml"/>
  <Override PartName="/ppt/slides/_rels/slide15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46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59.xml.rels" ContentType="application/vnd.openxmlformats-package.relationships+xml"/>
  <Override PartName="/ppt/slides/_rels/slide13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38.xml.rels" ContentType="application/vnd.openxmlformats-package.relationships+xml"/>
  <Override PartName="/ppt/slides/_rels/slide39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52.xml.rels" ContentType="application/vnd.openxmlformats-package.relationships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18.xml" ContentType="application/vnd.openxmlformats-officedocument.presentationml.slide+xml"/>
  <Override PartName="/ppt/slides/slide60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_rels/notesSlide52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55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56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50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2972B9F-C7D5-4784-8559-636758071DB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779003-BE8A-44EE-BC36-ABA6F3E511F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DDBEC2-8CD8-4F3F-85AA-3EBA653B597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F3DF8F-B39E-4A17-ACCB-498DBB6161E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7C018C-77F2-4F1B-B8EB-C8FE370B458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43260C-C6E2-41F1-8773-78E1419FB7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FC6288-2BBC-4E96-97E5-E6271F363C5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AAC476-B180-4E56-A8E9-905B5B8CF40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01DEB2-5D78-4D56-8AD9-184A27B6F6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0C556A-25D1-4C14-97E9-658600FC27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FB96A2-FAB3-4CB3-B93C-A5867AAB457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DCBD1C-8A44-4416-A5AB-935E2EE4725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939D26-DD13-4003-AD93-6177BD91C1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A690C1-2464-416F-A996-F3AA994BC90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AF8131-4356-480C-A042-1D39A18EF3E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3DFC62-72F3-4900-91CE-67140C270C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CB11B2-FDBE-4567-976E-6D5BCCD80F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02971D-3043-4650-9B5D-4C7FC98B129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F64672-F4DC-481D-BF35-C18ADC676A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660A91-2414-4450-A1D2-9053708EE7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217C73-FEBC-404C-9A4F-A505D24D7AD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B1AB15-D67A-456F-8CF8-7D4FB17308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03CB64-EA65-4003-91D3-B5F48C8A829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A3B587-6984-43D2-89B7-50D10152D3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FADFD9-41F3-4A6C-911E-AB193737E95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26E569-C0C3-4BD7-954F-AFC8E04ABE5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219788-3026-4B48-92CD-C1CC1BF9E1D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D9493A-3DA0-4279-BCAC-3BBF4F1AAE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A9554C-7E2C-42E8-BFDB-7B04CC6B0C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9FEF82-CD83-40E7-803F-0647784ADF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B639F6-72C0-4354-A509-164550BAF17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7726B3-E17A-4B00-B7D5-DB906EE250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CF175D-4117-450D-9017-ED2D92CB6B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69B43C-BD37-4516-B0E7-D0D7375524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6AB0F8-3097-435F-AE8D-47601E7B89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385DD6-59E7-4299-985D-DA7F903610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FE1854-C028-4CC4-928C-2A6178B00C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605777-2982-4012-846F-E109B01440E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30E66F-DE0D-4A4A-8021-2F3F29F313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831EF3-3160-44A1-97E0-933F35E6DC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4492A6-8D8A-46D9-A5B2-641C4E101A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20A5B8-BA68-4B5F-B972-0EDADCD878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1D942D-7CAD-4119-B5E4-BDD3939EB4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0B7A4E-E105-4ED9-A28D-7579FA2AFF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A25096-7D7E-4C8E-951E-81FE9CACFB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55EC85-BE71-4329-8047-F8CE382CFF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779661-ACD1-4CA1-80DB-F6B2BAA6AAA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B19842-EDFC-42AF-8964-46156FB7D4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08B82D-EC25-4BD1-BFAB-49C2844752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804078-D9AC-4A37-8506-B14892FE2A1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13A89E-0ECA-452C-83E7-1998C7F93D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D93D54-DF47-4A10-8319-70D1883F53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8D3997-A4A4-4152-8742-3C8937575A5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ACC940-7579-42F6-9271-D0CBAE9A98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4E6B73-A873-4861-BB4F-7776D7C3431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416299-3BAE-49C5-84B6-94BF2057A7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61F434-6EF7-4D21-AA05-2F8BDDCA520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EBC89F-A6AD-4B54-9997-D4D6AB8E6D2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BEDC77-89A2-46D2-BDBE-B4AC96730D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60652-FE9F-487A-9EC9-C3F1A845FF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86DD0C-78DA-499A-A4F6-D561BC477F4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C264E0-7A69-47FB-91E3-DE56BB1A2BA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5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Business Story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731520" y="1005840"/>
            <a:ext cx="10789560" cy="53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Converts fragmented sales activity into one managed lifecycle: discovery → qualification → RFQ → quote → retention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Links growth engines (ABM, campaigns, web discovery) with execution engines (tasks, meetings, pipeline control)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Turns operational behavior into measurable outcomes through route-level governance and analytics loops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01. / — Dashboard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" name="Image 0" descr="/home/aaron/IdeaProjects/CRM-v2/presentation_screenshots/001_home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Executive Dashboard (Cross-module KPIs)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Daily operating cockpit for sales, marketing, and operations health.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Overview - 90 days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We open with shared visibility so leadership can prioritize from one operational truth. Strategic command surface that merges pipeline health, reminders, and conversion signals for day-start prioritization.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Strategic command surface that merges pipeline health, reminders, and conversion signals for day-start prioritization.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Review pending lead approvals, RFQ stage risk, and task backlog before assigning team priorities.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KPI drift vs prior period to decide whether to push discovery, outreach, or quote acceleration today.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No direct entity creation; this route aggregates cross-module indicators into a single decision layer.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leadership response speed when conversion or activity trends deviate from target.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02. /abm-dashboard — ABM Dashboard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" name="Image 0" descr="/home/aaron/IdeaProjects/CRM-v2/presentation_screenshots/002_abm-dashboard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ABM Workspace (ABM Account/Playbook)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Prioritize high-value target accounts and coordinate focused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Target, engage, and convert high-value accounts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the strategic targeting layer where ABM focus is set before outreach spend.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accounts by fit, engagement, and buying signals before launching account-specific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account and playbook views together to connect strategy intent with concrete next outreach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Maintains ABM entity state used by downstream campaign targeting and account-level reporting.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focus on high-value opportunities rather than high-volume but low-fit activity.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03. /abm-dashboard/account/new — New Account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" name="Image 0" descr="/home/aaron/IdeaProjects/CRM-v2/presentation_screenshots/003_abm-dashboard__account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ABM Workspace (ABM Account/Playbook)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Prioritize high-value target accounts and coordinate focused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Create Account ABM target account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we decide which accounts deserve focused attention and coordinated plays.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accounts by fit, engagement, and buying signals before launching account-specific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account and playbook views together to connect strategy intent with concrete next outreach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Maintains ABM entity state used by downstream campaign targeting and account-level reporting.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focus on high-value opportunities rather than high-volume but low-fit activity.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04. /abm-dashboard/accounts — Target Accounts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" name="Image 0" descr="/home/aaron/IdeaProjects/CRM-v2/presentation_screenshots/004_abm-dashboard__account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ABM Workspace (ABM Account/Playbook)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Prioritize high-value target accounts and coordinate focused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we decide which accounts deserve focused attention and coordinated plays.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accounts by fit, engagement, and buying signals before launching account-specific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account and playbook views together to connect strategy intent with concrete next outreach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Maintains ABM entity state used by downstream campaign targeting and account-level reporting.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focus on high-value opportunities rather than high-volume but low-fit activity.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05. /abm-dashboard/playbooks — ABM Playbooks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" name="Image 0" descr="/home/aaron/IdeaProjects/CRM-v2/presentation_screenshots/005_abm-dashboard__playbook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3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ABM Workspace (ABM Account/Playbook)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Prioritize high-value target accounts and coordinate focused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we decide which accounts deserve focused attention and coordinated plays.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ABM control layer for selecting target accounts, orchestrating playbooks, and measuring account progression against strategic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accounts by fit, engagement, and buying signals before launching account-specific plays.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account and playbook views together to connect strategy intent with concrete next outreach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Maintains ABM entity state used by downstream campaign targeting and account-level reporting.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focus on high-value opportunities rather than high-volume but low-fit activity.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06. /activities — Activities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" name="Image 0" descr="/home/aaron/IdeaProjects/CRM-v2/presentation_screenshots/006_activitie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3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Activity Tracking (Activity)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Capture interactions and keep account engagement history accurate.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Track and manage all customer interactions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Interaction evidence layer that records calls, meetings, and touchpoints used to evaluate account momentum and follow-up discipline.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Interaction evidence layer that records calls, meetings, and touchpoints used to evaluate account momentum and follow-up discipline.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Log each customer interaction with outcome context so next-step decisions are based on facts, not memory.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timeline/history to detect stalled accounts and trigger corrective outreach before opportunities cool.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Writes or retrieves activity records linked to companies/contacts for full relationship traceability.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Raises forecast confidence by making engagement recency and quality visible across the team.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07. /activities/new — Log New Activity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" name="Image 0" descr="/home/aaron/IdeaProjects/CRM-v2/presentation_screenshots/007_activitie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4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Activity Tracking (Activity)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Capture interactions and keep account engagement history accurate.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Record a new interaction with a company or contact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moment, the team creates a new object that unlocks downstream execution. Interaction evidence layer that records calls, meetings, and touchpoints used to evaluate account momentum and follow-up discipline.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Interaction evidence layer that records calls, meetings, and touchpoints used to evaluate account momentum and follow-up discipline.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Log each customer interaction with outcome context so next-step decisions are based on facts, not memory.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timeline/history to detect stalled accounts and trigger corrective outreach before opportunities cool.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Writes or retrieves activity records linked to companies/contacts for full relationship traceability.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Raises forecast confidence by making engagement recency and quality visible across the team.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08. /activities/timeline — Activity Timeline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Image 0" descr="/home/aaron/IdeaProjects/CRM-v2/presentation_screenshots/008_activities__timeline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4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Activity Tracking (Activity)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Capture interactions and keep account engagement history accurate.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A chronological view of all customer interactions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stage, this page advances execution in the customer lifecycle. Interaction evidence layer that records calls, meetings, and touchpoints used to evaluate account momentum and follow-up discipline.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Interaction evidence layer that records calls, meetings, and touchpoints used to evaluate account momentum and follow-up discipline.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Log each customer interaction with outcome context so next-step decisions are based on facts, not memory.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timeline/history to detect stalled accounts and trigger corrective outreach before opportunities cool.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Writes or retrieves activity records linked to companies/contacts for full relationship traceability.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Raises forecast confidence by making engagement recency and quality visible across the team.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17. /autonomous-sales — Sales Automation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" name="Image 0" descr="/home/aaron/IdeaProjects/CRM-v2/presentation_screenshots/017_autonomous-sale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5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Autonomous Sales (Autonomous orchestration state)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Control and observe distributed outbound automation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Turn on to start automated outreach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Automation control plane for autonomous outbound execution, quality guardrails, and distributed orchestration monitoring.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Automation control plane for autonomous outbound execution, quality guardrails, and distributed orchestration monitoring.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Tune automation boundaries and monitor output quality before scaling volume.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this route to verify learning loops, targeting quality, and fail-safe behavior remain healthy.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Updates automation state and influences behavior of downstream autonomous outreach pipelines.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throughput without sacrificing relevance when guardrails are actively maintained.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18. /calendar — Calendar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" name="Image 0" descr="/home/aaron/IdeaProjects/CRM-v2/presentation_screenshots/018_calendar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5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Calendar Planning (Calendar events)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Schedule events and synchronize time-based execution with sales motion.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19. /calendar/new — New Calendar Event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Image 0" descr="/home/aaron/IdeaProjects/CRM-v2/presentation_screenshots/019_calendar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6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Calendar Planning (Calendar events)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Schedule events and synchronize time-based execution with sales motion.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moment, the team creates a new object that unlocks downstream execution.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20. /calendar/search — Search Calendar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" name="Image 0" descr="/home/aaron/IdeaProjects/CRM-v2/presentation_screenshots/020_calendar__search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6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Calendar Planning (Calendar events)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Schedule events and synchronize time-based execution with sales motion.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Find events by title or description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stage, this page advances execution in the customer lifecycle.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21. /command-center — Command Center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" name="Image 0" descr="/home/aaron/IdeaProjects/CRM-v2/presentation_screenshots/021_command-center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7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Command Center (Cross-module operational signals)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Operational intelligence panel for alerts, actions, metrics, and quote signals.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System Overview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the team turns alerts into coordinated execution before risk compounds. Real-time operational intelligence panel for alerts, metric shifts, and action prioritization across active revenue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Real-time operational intelligence panel for alerts, metric shifts, and action prioritization across active revenue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Triages alerts by business impact first, then drills into root-cause pages for corrective action.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data/actions/metrics views together to convert signal detection into immediate execution.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Aggregates and surfaces operational events from multiple modules into one response layer.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Reduces reaction latency when opportunities or risks change quickly.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22. /comp-crawler — 🔍 Competitor Intelligence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Image 0" descr="/home/aaron/IdeaProjects/CRM-v2/presentation_screenshots/022_comp-crawler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7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Competitive Crawler (Competitor pages and signals)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Monitor competitor footprint changes and watchlist intelligence.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Discovery, profiling, and change monitoring of competitive landscape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stage, this page advances execution in the customer lifecycle.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23. /comp-crawler/changes — 📊 Change Feed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Image 0" descr="/home/aaron/IdeaProjects/CRM-v2/presentation_screenshots/023_comp-crawler__change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8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Competitive Crawler (Competitor pages and signals)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Monitor competitor footprint changes and watchlist intelligence.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Real-time monitoring of competitor digital footprint changes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step gives the team operational control over active work.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24. /comp-crawler/list — 📋 Competitor Repository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" name="Image 0" descr="/home/aaron/IdeaProjects/CRM-v2/presentation_screenshots/024_comp-crawler__list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8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Competitive Crawler (Competitor pages and signals)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Monitor competitor footprint changes and watchlist intelligence.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85 Comprehensive list of identified market competitors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step gives the team operational control over active work.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25. /comp-crawler/watchlists — 👁️ Watchlists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Image 0" descr="/home/aaron/IdeaProjects/CRM-v2/presentation_screenshots/025_comp-crawler__watchlist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9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Competitive Crawler (Competitor pages and signals)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Monitor competitor footprint changes and watchlist intelligence.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Segmented groups of competitors for targeted monitoring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step gives the team operational control over active work.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26. /companies — Companies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Image 0" descr="/home/aaron/IdeaProjects/CRM-v2/presentation_screenshots/026_companie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9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Company Management (Company)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Maintain target and active buyer accounts with qualification context.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Filter companies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Strong account records here prevent friction across every later stage.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 high-quality account/contact attributes before triggering RFQ, campaign, or meeting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discovered/new/edit flows to prevent duplicate or incomplete records from entering core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core CRM entities that every downstream workflow relies 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personalization, routing accuracy, and handoff quality across teams.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27. /companies/discovered — Discovered Companies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Image 0" descr="/home/aaron/IdeaProjects/CRM-v2/presentation_screenshots/027_companies__discovered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0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Company Management (Company)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Maintain target and active buyer accounts with qualification context.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Review and approve companies found by the webcrawler (not in compliance).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the master-account layer where downstream execution quality is determined.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 high-quality account/contact attributes before triggering RFQ, campaign, or meeting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discovered/new/edit flows to prevent duplicate or incomplete records from entering core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core CRM entities that every downstream workflow relies 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personalization, routing accuracy, and handoff quality across teams.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28. /companies/new — New Company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Image 0" descr="/home/aaron/IdeaProjects/CRM-v2/presentation_screenshots/028_companie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0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Company Management (Company)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Maintain target and active buyer accounts with qualification context.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Create your first company to get started.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the master-account layer where downstream execution quality is determined.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 high-quality account/contact attributes before triggering RFQ, campaign, or meeting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discovered/new/edit flows to prevent duplicate or incomplete records from entering core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core CRM entities that every downstream workflow relies 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personalization, routing accuracy, and handoff quality across teams.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29. /compliance/overview — Compliance Overview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Image 0" descr="/home/aaron/IdeaProjects/CRM-v2/presentation_screenshots/029_compliance__overvi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1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Compliance Tracking (Compliance document requirements)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Track document readiness, expiry risk, and remediation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Monitor and manage company compliance requirements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step gives the team operational control over active work. This page serves as the operational list and triage surface for Compliance Tracking.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This page serves as the operational list and triage surface for Compliance Tracking.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the primary controls on this screen to complete the current workflow step without leaving module context.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data quality before saving so downstream reports, automations, and handoffs remain reliable.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Commits state changes (or filtered views) tied to this route and preserves an auditable operational trail.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team execution quality by reducing ambiguity about the next action owner and lifecycle step.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30. /contacts — Contacts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Image 0" descr="/home/aaron/IdeaProjects/CRM-v2/presentation_screenshots/030_contact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1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Contact Management (Contact)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Track procurement stakeholders and relationship quality by account.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Manage your contacts and relationships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the stakeholder intelligence layer that powers personalized execution.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 high-quality account/contact attributes before triggering RFQ, campaign, or meeting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discovered/new/edit flows to prevent duplicate or incomplete records from entering core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core CRM entities that every downstream workflow relies 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personalization, routing accuracy, and handoff quality across teams.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31. /contacts/new — New Contact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" name="Image 0" descr="/home/aaron/IdeaProjects/CRM-v2/presentation_screenshots/031_contact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2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Contact Management (Contact)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Track procurement stakeholders and relationship quality by account.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Add a new contact to the system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Accurate contact context here drives better outreach timing and conversion quality.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 high-quality account/contact attributes before triggering RFQ, campaign, or meeting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discovered/new/edit flows to prevent duplicate or incomplete records from entering core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core CRM entities that every downstream workflow relies 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personalization, routing accuracy, and handoff quality across teams.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32. /currency-converter — Currency Converter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Image 0" descr="/home/aaron/IdeaProjects/CRM-v2/presentation_screenshots/032_currency-converter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2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Currency Converter (FX conversion records)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Normalize commercial values for quoting and procurement scenarios.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Live exchange rates from central bank APIs — conversions update system-wide FX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Analytical support layer for decision-grade reporting and commercial normalization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Analytical support layer for decision-grade reporting and commercial normalization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this page to standardize comparisons and remove ambiguity from performance interpretation.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Treat report/conversion outputs as operational inputs for next actions, not static artifacts.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Produces decision-support artifacts and normalized values consumed by sales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consistency of executive and team-level planning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33. /discovery-pipeline — Discovery Pipeline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Image 0" descr="/home/aaron/IdeaProjects/CRM-v2/presentation_screenshots/033_discovery-pipeline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3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Discovery Pipeline (Discovery pipeline stages)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Track discovery throughput and progress from capture to qualification.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34. /email-campaigns/ — Email Campaigns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Image 0" descr="/home/aaron/IdeaProjects/CRM-v2/presentation_screenshots/034_email-campaigns__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3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Email Campaigns (EmailCampaign + EmailSend)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Manage campaign lifecycle, send execution, and engagement tracking.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Run multi-touch campaigns. Contacts who unsubscribe are blocked across all email modules. Send limits count emails from both campaigns and automated outreach to prevent over-emailing.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stage turns outreach execution into repeatable signal-driven improvement.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Build or adjust sequences based on observed open/click/reply behavior and audience fit.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send and analytics pages as one loop: launch, measure, refine, relaunch.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Writes campaign/send entities and tracks engagement events for measurable iteration.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outreach efficiency by reducing untargeted volume and increasing response relevance.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35. /email-campaigns/new — Create campaign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Image 0" descr="/home/aaron/IdeaProjects/CRM-v2/presentation_screenshots/035_email-campaign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4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Email Campaigns (EmailCampaign + EmailSend)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Manage campaign lifecycle, send execution, and engagement tracking.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Setup sequence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stage turns outreach execution into repeatable signal-driven improvement.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Build or adjust sequences based on observed open/click/reply behavior and audience fit.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send and analytics pages as one loop: launch, measure, refine, relaunch.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Writes campaign/send entities and tracks engagement events for measurable iteration.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outreach efficiency by reducing untargeted volume and increasing response relevance.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36. /guidance/all — Notifications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" name="Image 0" descr="/home/aaron/IdeaProjects/CRM-v2/presentation_screenshots/036_guidance__all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4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Guidance Notifications (Session guidance events)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Provide contextual best-practice prompts after critical user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step gives the team operational control over active work.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due actions by urgency and business impact, then close or re-scope explicitly.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guidance prompts to avoid workflow gaps after key actions (new company, activity, conversion).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task/guidance state that operationalizes next steps after major workflow events.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follow-up reliability and reduces dropped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37. /lead-discovery/ — Lead Discovery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" name="Image 0" descr="/home/aaron/IdeaProjects/CRM-v2/presentation_screenshots/037_lead-discovery__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5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Lead Discovery Queue (Lead queue)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Triage discovered leads before conversion into account and contact records.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where discovery volume is converted into qualified opportunity flow.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38. /leads/ — Provisional leads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" name="Image 0" descr="/home/aaron/IdeaProjects/CRM-v2/presentation_screenshots/038_leads__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5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Lead Operations (Lead)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Review, approve, deny, and convert discovered leads into CRM entities.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The team filters for fit here so sales effort stays focused and economical.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39. /leads/dashboard — Lead Dashboard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Image 0" descr="/home/aaron/IdeaProjects/CRM-v2/presentation_screenshots/039_leads__dashboard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6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Lead Operations (Lead)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Review, approve, deny, and convert discovered leads into CRM entities.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The team filters for fit here so sales effort stays focused and economical.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40. /leads/review — Lead Review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Image 0" descr="/home/aaron/IdeaProjects/CRM-v2/presentation_screenshots/040_leads__revi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6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Lead Operations (Lead)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Review, approve, deny, and convert discovered leads into CRM entities.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The team filters for fit here so sales effort stays focused and economical.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41. /meetings — Meetings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Image 0" descr="/home/aaron/IdeaProjects/CRM-v2/presentation_screenshots/041_meeting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7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Meeting Scheduler (Meeting)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booking links, expose availability, and capture meeting pipeline.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Schedule and manage meeting slots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step gives the team operational control over active work.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42. /meetings/calendar — Meeting Calendar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" name="Image 0" descr="/home/aaron/IdeaProjects/CRM-v2/presentation_screenshots/042_meetings__calendar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7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Meeting Scheduler (Meeting)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booking links, expose availability, and capture meeting pipeline.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43. /meetings/generate — Generate Recurring Slots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" name="Image 0" descr="/home/aaron/IdeaProjects/CRM-v2/presentation_screenshots/043_meetings__generate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8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Meeting Scheduler (Meeting)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booking links, expose availability, and capture meeting pipeline.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Create multiple meeting slots at once based on your availability.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stage, this page advances execution in the customer lifecycle.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44. /meetings/my-link — My Booking Link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" name="Image 0" descr="/home/aaron/IdeaProjects/CRM-v2/presentation_screenshots/044_meetings__my-link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8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Meeting Scheduler (Meeting)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booking links, expose availability, and capture meeting pipeline.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45. /meetings/new — Create Meeting Slot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" name="Image 0" descr="/home/aaron/IdeaProjects/CRM-v2/presentation_screenshots/045_meeting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9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Meeting Scheduler (Meeting)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booking links, expose availability, and capture meeting pipeline.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a record-intake step where entry quality determines later velocity.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Scheduling operations surface that converts outreach intent into booked conversations and keeps follow-up cadence predictable.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Manage slots, availability, and booking links to reduce friction from first interest to confirmed meeting.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calendar signals to protect high-value selling time and avoid scheduling bottlenecks.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schedule and booking state tied to pipeline execution timelines.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Increases meeting conversion by shortening the delay between engagement and appointment.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46. /playbooks/ — ABM Playbooks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" name="Image 0" descr="/home/aaron/IdeaProjects/CRM-v2/presentation_screenshots/046_playbooks__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19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ABM Playbooks (Playbook)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Define repeatable account engagement motions for target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Automated workflows for account-based marketing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This page serves as the operational list and triage surface for ABM Playbooks.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This page serves as the operational list and triage surface for ABM Playbooks.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the primary controls on this screen to complete the current workflow step without leaving module context.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data quality before saving so downstream reports, automations, and handoffs remain reliable.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Commits state changes (or filtered views) tied to this route and preserves an auditable operational trail.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team execution quality by reducing ambiguity about the next action owner and lifecycle step.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47. /playbooks/new — New Playbook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Image 0" descr="/home/aaron/IdeaProjects/CRM-v2/presentation_screenshots/047_playbook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0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ABM Playbooks (Playbook)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Define repeatable account engagement motions for target segments.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Automated workflows for account-based marketing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a record-intake step where entry quality determines later velocity. This page serves as the new-record intake and validation surface for ABM Playbooks.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This page serves as the new-record intake and validation surface for ABM Playbooks.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the primary controls on this screen to complete the current workflow step without leaving module context.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data quality before saving so downstream reports, automations, and handoffs remain reliable.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Commits state changes (or filtered views) tied to this route and preserves an auditable operational trail.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team execution quality by reducing ambiguity about the next action owner and lifecycle step.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48. /profile — My Profile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" name="Image 0" descr="/home/aaron/IdeaProjects/CRM-v2/presentation_screenshots/048_profile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0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User Profile (User profile)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Manage user preferences and personal account context.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 high-quality account/contact attributes before triggering RFQ, campaign, or meeting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discovered/new/edit flows to prevent duplicate or incomplete records from entering core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core CRM entities that every downstream workflow relies 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personalization, routing accuracy, and handoff quality across teams.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49. /quote-copilot — Quote CoPilot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Image 0" descr="/home/aaron/IdeaProjects/CRM-v2/presentation_screenshots/049_quote-copilot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1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Quote CoPilot (Quote + BOM insights)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Support quote analysis and sourcing decisions with assisted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pricing, risk, and readiness signals before advancing quote or RFQ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pipeline and analytics views to separate velocity issues from win-rate quality issues.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RFQ/quote status changes and supporting decisions tied to revenue forecasting.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conversion quality by enforcing structured commercial checkpoints.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50. /quote-copilot/quotes — Quote List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Image 0" descr="/home/aaron/IdeaProjects/CRM-v2/presentation_screenshots/050_quote-copilot__quote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1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Quote CoPilot (Quote + BOM insights)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Support quote analysis and sourcing decisions with assisted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pricing, risk, and readiness signals before advancing quote or RFQ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pipeline and analytics views to separate velocity issues from win-rate quality issues.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RFQ/quote status changes and supporting decisions tied to revenue forecasting.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conversion quality by enforcing structured commercial checkpoints.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51. /quote-review — Quote Review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Image 0" descr="/home/aaron/IdeaProjects/CRM-v2/presentation_screenshots/051_quote-revi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2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Quote Review (Quote review records)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Validate pricing and commercial readiness before customer-facing steps.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Review generated quotes and price coverage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pricing, risk, and readiness signals before advancing quote or RFQ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pipeline and analytics views to separate velocity issues from win-rate quality issues.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RFQ/quote status changes and supporting decisions tied to revenue forecasting.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conversion quality by enforcing structured commercial checkpoints.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52. /reports — Reports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Image 0" descr="/home/aaron/IdeaProjects/CRM-v2/presentation_screenshots/052_report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2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Report Builder (Report definitions + exports)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Create reusable analytics artifacts for performance and pipeline review.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where operational output becomes decision-grade insight. Analytical support layer for decision-grade reporting and commercial normalization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Analytical support layer for decision-grade reporting and commercial normalization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this page to standardize comparisons and remove ambiguity from performance interpretation.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Treat report/conversion outputs as operational inputs for next actions, not static artifacts.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Produces decision-support artifacts and normalized values consumed by sales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consistency of executive and team-level planning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53. /reports/new — Create New Report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2" name="Image 0" descr="/home/aaron/IdeaProjects/CRM-v2/presentation_screenshots/053_report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3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Report Builder (Report definitions + exports)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Create reusable analytics artifacts for performance and pipeline review.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layer translates activity into clear planning and accountability signals. Analytical support layer for decision-grade reporting and commercial normalization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Analytical support layer for decision-grade reporting and commercial normalization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this page to standardize comparisons and remove ambiguity from performance interpretation.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Treat report/conversion outputs as operational inputs for next actions, not static artifacts.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Produces decision-support artifacts and normalized values consumed by sales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consistency of executive and team-level planning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54. /rfqs/ — RFQ Pipeline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7" name="Image 0" descr="/home/aaron/IdeaProjects/CRM-v2/presentation_screenshots/054_rfqs__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3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RFQ Pipeline (RFQ)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Move opportunities from intake through status gates to outcome analysis.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Track and manage RFQs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where quote readiness and stage confidence are actively managed.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pricing, risk, and readiness signals before advancing quote or RFQ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pipeline and analytics views to separate velocity issues from win-rate quality issues.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RFQ/quote status changes and supporting decisions tied to revenue forecasting.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conversion quality by enforcing structured commercial checkpoints.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55. /rfqs/analytics/win-loss — Win/Loss Analytics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" name="Image 0" descr="/home/aaron/IdeaProjects/CRM-v2/presentation_screenshots/055_rfqs__analytics__win-los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4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RFQ Pipeline (RFQ)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Move opportunities from intake through status gates to outcome analysis.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rfq.competitive_intelligence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where quote readiness and stage confidence are actively managed.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pricing, risk, and readiness signals before advancing quote or RFQ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pipeline and analytics views to separate velocity issues from win-rate quality issues.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RFQ/quote status changes and supporting decisions tied to revenue forecasting.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conversion quality by enforcing structured commercial checkpoints.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56. /rfqs/new — New RFQ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Image 0" descr="/home/aaron/IdeaProjects/CRM-v2/presentation_screenshots/056_rfq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4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RFQ Pipeline (RFQ)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Move opportunities from intake through status gates to outcome analysis.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where quote readiness and stage confidence are actively managed.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pricing, risk, and readiness signals before advancing quote or RFQ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pipeline and analytics views to separate velocity issues from win-rate quality issues.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RFQ/quote status changes and supporting decisions tied to revenue forecasting.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conversion quality by enforcing structured commercial checkpoints.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57. /rfqs/pipeline — RFQ Pipeline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2" name="Image 0" descr="/home/aaron/IdeaProjects/CRM-v2/presentation_screenshots/057_rfqs__pipeline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5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RFQ Pipeline (RFQ)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Move opportunities from intake through status gates to outcome analysis.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Track RFQs across stages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where quote readiness and stage confidence are actively managed.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Commercial execution surface where opportunity economics, quote readiness, and stage movement are actively controlled.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Validate pricing, risk, and readiness signals before advancing quote or RFQ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pipeline and analytics views to separate velocity issues from win-rate quality issues.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RFQ/quote status changes and supporting decisions tied to revenue forecasting.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conversion quality by enforcing structured commercial checkpoints.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58. /supplier-portal — Supplier Portal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7" name="Image 0" descr="/home/aaron/IdeaProjects/CRM-v2/presentation_screenshots/058_supplier-portal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5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Supplier Portal (Supplier portal records)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Manage external supplier registration and participation signals.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Manage supplier onboarding and portal access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Master-data workspace that keeps account and stakeholder records complete, current, and execution-ready.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Maintain high-quality account/contact attributes before triggering RFQ, campaign, or meeting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discovered/new/edit flows to prevent duplicate or incomplete records from entering core operations.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core CRM entities that every downstream workflow relies 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personalization, routing accuracy, and handoff quality across teams.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59. /tasks — Tasks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2" name="Image 0" descr="/home/aaron/IdeaProjects/CRM-v2/presentation_screenshots/059_task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6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Task Execution (Task)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Plan, prioritize, and complete operational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the discipline layer where commitments become completed work.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due actions by urgency and business impact, then close or re-scope explicitly.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guidance prompts to avoid workflow gaps after key actions (new company, activity, conversion).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task/guidance state that operationalizes next steps after major workflow events.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follow-up reliability and reduces dropped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60. /tasks/kanban — Kanban Board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Image 0" descr="/home/aaron/IdeaProjects/CRM-v2/presentation_screenshots/060_tasks__kanban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6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Task Execution (Task)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Plan, prioritize, and complete operational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Execution reliability is built here through ownership and due-date control.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due actions by urgency and business impact, then close or re-scope explicitly.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guidance prompts to avoid workflow gaps after key actions (new company, activity, conversion).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task/guidance state that operationalizes next steps after major workflow events.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follow-up reliability and reduces dropped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61. /tasks/my-day — My Day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2" name="Image 0" descr="/home/aaron/IdeaProjects/CRM-v2/presentation_screenshots/061_tasks__my-day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7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Task Execution (Task)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Plan, prioritize, and complete operational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Monday, February 16, 2026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Execution reliability is built here through ownership and due-date control.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due actions by urgency and business impact, then close or re-scope explicitly.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guidance prompts to avoid workflow gaps after key actions (new company, activity, conversion).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task/guidance state that operationalizes next steps after major workflow events.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follow-up reliability and reduces dropped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62. /tasks/new — Create Task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7" name="Image 0" descr="/home/aaron/IdeaProjects/CRM-v2/presentation_screenshots/062_task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7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Task Execution (Task)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Plan, prioritize, and complete operational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Execution reliability is built here through ownership and due-date control.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Execution discipline layer that turns intent into assigned, time-bound, and trackable follow-up actions.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Prioritize due actions by urgency and business impact, then close or re-scope explicitly.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guidance prompts to avoid workflow gaps after key actions (new company, activity, conversion).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Persists task/guidance state that operationalizes next steps after major workflow events.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follow-up reliability and reduces dropped commitments.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63. /webcrawler — LeadBot WebCrawler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2" name="Image 0" descr="/home/aaron/IdeaProjects/CRM-v2/presentation_screenshots/063_webcrawler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8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Webcrawler Discovery (Discovered company/contact candidates)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and enrich high-relevance lead candidates with region-configurable fit scoring.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Discover companies using Google Dorks and LinkedIn search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Here execution is prioritized and routed to the right owners.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64. /webcrawler/dork-generator — Dork Generator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7" name="Image 0" descr="/home/aaron/IdeaProjects/CRM-v2/presentation_screenshots/064_webcrawler__dork-generator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8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Webcrawler Discovery (Discovered company/contact candidates)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and enrich high-relevance lead candidates with region-configurable fit scoring.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UI Context: Generate custom Google search queries for company discovery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stage, this page advances execution in the customer lifecycle.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65. /webcrawler/keyword-expansion — Keyword Expansion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2" name="Image 0" descr="/home/aaron/IdeaProjects/CRM-v2/presentation_screenshots/065_webcrawler__keyword-expansion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9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Webcrawler Discovery (Discovered company/contact candidates)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Generate and enrich high-relevance lead candidates with region-configurable fit scoring.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At this stage, this page advances execution in the customer lifecycle.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Discovery and qualification surface for finding, scoring, and promoting high-fit targets into the active CRM funnel.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Apply relevance evidence, dedupe checks, and qualification thresholds before promotion decisions.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review/discovered views to keep low-fit noise out of core company and contact datasets.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Creates or updates lead/discovery entities with explicit status transitions and review rationale.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top-of-funnel quality and reduces wasted downstream selling effort.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66. /webinars — Webinars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7" name="Image 0" descr="/home/aaron/IdeaProjects/CRM-v2/presentation_screenshots/066_webinars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298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Webinar Operations (Webinar + registrations)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Plan sessions and route webinar activity into follow-up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step gives the team operational control over active work.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Build or adjust sequences based on observed open/click/reply behavior and audience fit.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send and analytics pages as one loop: launch, measure, refine, relaunch.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Writes campaign/send entities and tracks engagement events for measurable iteration.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outreach efficiency by reducing untargeted volume and increasing response relevance.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67. /webinars/new — New Webinar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" name="Image 0" descr="/home/aaron/IdeaProjects/CRM-v2/presentation_screenshots/067_webinars__new.png"/>
          <p:cNvPicPr/>
          <p:nvPr/>
        </p:nvPicPr>
        <p:blipFill>
          <a:blip r:embed="rId1"/>
          <a:stretch/>
        </p:blipFill>
        <p:spPr>
          <a:xfrm>
            <a:off x="365760" y="777240"/>
            <a:ext cx="6583320" cy="5577480"/>
          </a:xfrm>
          <a:prstGeom prst="rect">
            <a:avLst/>
          </a:prstGeom>
          <a:ln w="0">
            <a:noFill/>
          </a:ln>
        </p:spPr>
      </p:pic>
      <p:sp>
        <p:nvSpPr>
          <p:cNvPr id="303" name="Shape 1"/>
          <p:cNvSpPr/>
          <p:nvPr/>
        </p:nvSpPr>
        <p:spPr>
          <a:xfrm>
            <a:off x="7132320" y="777240"/>
            <a:ext cx="4663080" cy="5577480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2"/>
          <p:cNvSpPr/>
          <p:nvPr/>
        </p:nvSpPr>
        <p:spPr>
          <a:xfrm>
            <a:off x="7315200" y="914400"/>
            <a:ext cx="4297320" cy="52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Module: Webinar Operations (Webinar + registrations)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Module Purpose: Plan sessions and route webinar activity into follow-up workflows.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Narrative: This is a record-intake step where entry quality determines later velocity.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Core Function: Outreach orchestration surface for campaign/webinar execution, audience management, and engagement telemetry loops.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Live Demo Focus: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Business Outcomes: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Build or adjust sequences based on observed open/click/reply behavior and audience fit.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Use send and analytics pages as one loop: launch, measure, refine, relaunch.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Writes campaign/send entities and tracks engagement events for measurable iteration.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11827"/>
                </a:solidFill>
                <a:latin typeface="Calibri"/>
              </a:rPr>
              <a:t>Improves outreach efficiency by reducing untargeted volume and increasing response relevance.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3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0"/>
          <p:cNvSpPr/>
          <p:nvPr/>
        </p:nvSpPr>
        <p:spPr>
          <a:xfrm>
            <a:off x="365760" y="18288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f2937"/>
                </a:solidFill>
                <a:latin typeface="Calibri"/>
              </a:rPr>
              <a:t>Closing Narrative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731520" y="1005840"/>
            <a:ext cx="10789560" cy="53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The platform’s advantage is orchestration: every page moves the same revenue journey forward with auditable state transitions and measurable feedback loops.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11827"/>
                </a:solidFill>
                <a:latin typeface="Calibri"/>
              </a:rPr>
              <a:t>Demo sequence: Dashboard → Discovery → Master Data → Commercial Pipeline → Execution Discipline → Growth Loops → Reporting.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365760" y="6492240"/>
            <a:ext cx="5943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Calibri"/>
              </a:rPr>
              <a:t>CRM v2 Executive Walkthrough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  <Company>Starz Morocco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2026-02-17T15:00:25Z</dcterms:created>
  <dc:creator>CRM v2</dc:creator>
  <dc:description/>
  <dc:language>en-US</dc:language>
  <cp:lastModifiedBy/>
  <dcterms:modified xsi:type="dcterms:W3CDTF">2026-02-17T16:02:30Z</dcterms:modified>
  <cp:revision>2</cp:revision>
  <dc:subject>CRM v2 Executive Walkthrough</dc:subject>
  <dc:title>CRM v2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71</vt:i4>
  </property>
  <property fmtid="{D5CDD505-2E9C-101B-9397-08002B2CF9AE}" pid="3" name="PresentationFormat">
    <vt:lpwstr>On-screen Show (16:9)</vt:lpwstr>
  </property>
  <property fmtid="{D5CDD505-2E9C-101B-9397-08002B2CF9AE}" pid="4" name="Slides">
    <vt:i4>71</vt:i4>
  </property>
</Properties>
</file>